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9601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E2B714"/>
                </a:solidFill>
              </a:rPr>
              <a:t>PCS3732 — Laboratório de Processadores</a:t>
            </a:r>
          </a:p>
          <a:p>
            <a:pPr algn="l">
              <a:spcAft>
                <a:spcPts val="400"/>
              </a:spcAft>
            </a:pPr>
            <a:r>
              <a:rPr sz="4800" b="1">
                <a:solidFill>
                  <a:srgbClr val="F2F4F8"/>
                </a:solidFill>
              </a:rPr>
              <a:t>Tabuleiro de Xadrez Eletrônico</a:t>
            </a:r>
          </a:p>
          <a:p>
            <a:pPr algn="l">
              <a:spcAft>
                <a:spcPts val="2200"/>
              </a:spcAft>
            </a:pPr>
            <a:r>
              <a:rPr sz="2600" b="0">
                <a:solidFill>
                  <a:srgbClr val="D6DEE8"/>
                </a:solidFill>
              </a:rPr>
              <a:t>com integração a chess engine e a partidas online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Apresentação Final  ·  Grupo W  ·  Agosto de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4160520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57816" y="4160520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68712" y="4160520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79608" y="4160520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90504" y="4160520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201400" y="4160520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12296" y="4160520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23192" y="4160520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46920" y="4471416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57816" y="4471416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68712" y="4471416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79608" y="4471416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90504" y="4471416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01400" y="4471416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12296" y="4471416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23192" y="4471416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46920" y="4782312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57816" y="4782312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68712" y="4782312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79608" y="4782312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90504" y="4782312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201400" y="4782312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12296" y="4782312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23192" y="4782312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20" y="5093208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57816" y="5093208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68712" y="5093208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79608" y="5093208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890504" y="5093208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01400" y="5093208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12296" y="5093208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823192" y="5093208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46920" y="5404104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57816" y="5404104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68712" y="5404104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579608" y="5404104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90504" y="5404104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01400" y="5404104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512296" y="5404104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823192" y="5404104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46920" y="5715000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57816" y="5715000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68712" y="5715000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79608" y="5715000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90504" y="5715000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201400" y="5715000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512296" y="5715000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23192" y="5715000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46920" y="6025896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957816" y="6025896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68712" y="6025896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579608" y="6025896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90504" y="6025896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201400" y="6025896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12296" y="6025896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823192" y="6025896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46920" y="6336792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957816" y="6336792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268712" y="6336792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579608" y="6336792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890504" y="6336792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201400" y="6336792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512296" y="6336792"/>
            <a:ext cx="310896" cy="310896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823192" y="6336792"/>
            <a:ext cx="310896" cy="310896"/>
          </a:xfrm>
          <a:prstGeom prst="rect">
            <a:avLst/>
          </a:prstGeom>
          <a:solidFill>
            <a:srgbClr val="30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Motivação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Duas formas de jogar xadrez que não conversam entre 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246120" cy="228600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FB3C8"/>
                </a:solidFill>
              </a:rPr>
              <a:t>Tabuleiro físico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Peças reais, presença, o gesto de mover a peça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Sem oponente disponível, sem análise, sem registro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783080"/>
            <a:ext cx="3246120" cy="228600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FB3C8"/>
                </a:solidFill>
              </a:rPr>
              <a:t>Xadrez digital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Engine forte a qualquer hora, milhões de oponentes online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A partida acontece numa tela — o tabuleiro some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80" y="1783080"/>
            <a:ext cx="3246120" cy="228600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Nossa proposta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Peças físicas de verdade sobre um tabuleiro instrumentado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Oponente (Stockfish ou Lichess) representado na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2F4F8"/>
                </a:solidFill>
              </a:rPr>
              <a:t>O problema técnico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D6DEE8"/>
                </a:solidFill>
              </a:rPr>
              <a:t>Detectar o movimento de peças físicas sem intervenção manual, traduzi-lo em jogada válida e devolver o estado completo da partida ao jogador — em tempo real, sobre hardware embarcado.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Objetivos e requisitos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Definidos na semana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Requisitos funcionais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RF1 — Detectar as peças no tabuleiro físico e seus movimentos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RF2 — Comunicar-se com uma chess engine como oponente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RF3 — Exibir graficamente as duas partes do jogo (32 peças)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Requisitos não funcionais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RNF1 — Detecção &lt; 200 ms, com 100 % de precisão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RNF2 — GUI sem latência perceptível (&lt; 100 ms)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RNF3 — Robustez contra falsos positivos (esbarrões)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2F4F8"/>
                </a:solidFill>
              </a:rPr>
              <a:t>Objetivo geral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D6DEE8"/>
                </a:solidFill>
              </a:rPr>
              <a:t>Projetar e implementar um tabuleiro de xadrez eletrônico que detecte movimentos de peças físicas, os comunique ao Stockfish ou à plataforma Lichess, e exiba o estado completo da partida em interface gráfica.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FB3C8"/>
                </a:solidFill>
              </a:rPr>
              <a:t>Metodologia: ciclo iterativo e incremental em entregas semanais, com branches integradas por pull request e validação em camadas (testes automatizados, mock de hardware, prova de conceito, sondas contra a API real).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Solução proposta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Tabuleiro instrumentado + Raspberry Pi + dois processos cooperando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783080"/>
            <a:ext cx="402336" cy="402336"/>
          </a:xfrm>
          <a:prstGeom prst="ellipse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B2D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746504"/>
            <a:ext cx="1019830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2F4F8"/>
                </a:solidFill>
              </a:rPr>
              <a:t>Tabuleiro instrumentado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6DEE8"/>
                </a:solidFill>
              </a:rPr>
              <a:t>Matriz 8×8 de reed switches com diodos anti-ghosting; ímãs de neodímio embutidos nas peças. 64 sensores em apenas 16 pinos GPIO.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898648"/>
            <a:ext cx="402336" cy="402336"/>
          </a:xfrm>
          <a:prstGeom prst="ellipse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B2D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862072"/>
            <a:ext cx="1019830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2F4F8"/>
                </a:solidFill>
              </a:rPr>
              <a:t>Processo em C — baixo nível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6DEE8"/>
                </a:solidFill>
              </a:rPr>
              <a:t>Varredura matricial, debouncing por amostragem consecutiva e detecção de diferenças. Emite eventos curtos de texto.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014216"/>
            <a:ext cx="402336" cy="402336"/>
          </a:xfrm>
          <a:prstGeom prst="ellipse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B2D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3977640"/>
            <a:ext cx="1019830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2F4F8"/>
                </a:solidFill>
              </a:rPr>
              <a:t>Processo em Python — aplicação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6DEE8"/>
                </a:solidFill>
              </a:rPr>
              <a:t>Estado do jogo e validação com python-chess, interface UCI com o Stockfish, cliente da Lichess Board API e GUI em pygame.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5129784"/>
            <a:ext cx="402336" cy="402336"/>
          </a:xfrm>
          <a:prstGeom prst="ellipse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B2D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5093208"/>
            <a:ext cx="10198303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2F4F8"/>
                </a:solidFill>
              </a:rPr>
              <a:t>Duas camadas de entrada intercambiáveis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D6DEE8"/>
                </a:solidFill>
              </a:rPr>
              <a:t>Reed switches ou teclado matricial 4×4 — mesmo protocolo IPC, aplicação idêntica nos dois casos.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Arquitetura do sistema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Três camadas interligadas por comunicação entre processos (IPC)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94560"/>
                </a:solidFill>
              </a:rPr>
              <a:t>Hardware / sensoriamento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Peças com ímã de neodímio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Matriz 8×8 de reed switches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Diodos 1N4148 anti-ghosting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GPIO do Raspberry Pi 3B+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Alternativa: teclado matricial 4×4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783080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Baixo nível — processo em 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main.c — CLI e escolha da camada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reed_layer.c — varredura + debouncing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keypad_layer.c — lances digitados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board.c — espelho de ocupação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ipc.c — serialização dos eventos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lcd.c / gpio.c / runstate.c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11896" y="1783080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4CC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CC38A"/>
                </a:solidFill>
              </a:rPr>
              <a:t>Aplicação — processo em Python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ipc_reader.py + move_interpreter.py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game_state.py — python-chess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stockfish_engine.py — protocolo UCI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lichess_client.py — Board API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gui.py — pygame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menu.py / launcher.py — configuração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9664" y="3108960"/>
            <a:ext cx="274320" cy="292608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982712" y="3108960"/>
            <a:ext cx="274320" cy="292608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FB3C8"/>
                </a:solidFill>
              </a:rPr>
              <a:t>GPIO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507492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FB3C8"/>
                </a:solidFill>
              </a:rPr>
              <a:t>Named pipe / stdout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40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FB3C8"/>
                </a:solidFill>
              </a:rPr>
              <a:t>Por que dois processos: o C dá controle direto de GPIO com temporização precisa; o Python traz o python-chess (validação e UCI). Named pipe é IPC nativo do Linux, suficiente para eventos curtos e esporádicos.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Arquitetura física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Do ímã ao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q_fis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148840"/>
            <a:ext cx="10607040" cy="2354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80060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D6DEE8"/>
                </a:solidFill>
              </a:rPr>
              <a:t>Varredura matricial: 8 linhas em OUTPUT LOW, 8 colunas em INPUT_PULLUP, com um diodo 1N4148 em série por sensor. 64 sensores lidos com 16 pinos.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D6DEE8"/>
                </a:solidFill>
              </a:rPr>
              <a:t>Prova de conceito validada em Arduino Mega 2560 e simulada no SimulIDE; versão final no Raspberry Pi 3B+, com acesso ao GPIO pelo processo em C (sem overhead de serial).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O protocolo IPC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Um formato de texto simples é o que torna as camadas intercambiáveis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0A121F"/>
          </a:solidFill>
          <a:ln w="15875">
            <a:solidFill>
              <a:srgbClr val="2A4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2F4F8"/>
                </a:solidFill>
                <a:latin typeface="Consolas"/>
              </a:rPr>
              <a:t>casa:estado,casa:estado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D6DEE8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CC38A"/>
                </a:solidFill>
                <a:latin typeface="Consolas"/>
              </a:rPr>
              <a:t>e2:0,e4:1      peça saiu de e2, chegou em e4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9184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4CC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CC38A"/>
                </a:solidFill>
              </a:rPr>
              <a:t>Eventos de exemplo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Peão e2→e4  →  e2:0,e4:1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Captura Bxf7  →  c4:0,f7:1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Roque curto  →  e1:0,g1:1  e depois  h1:0,f1:1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O roque chega em duas etapas: rei primeiro, torre depois — como na mão do jogador sobre o tabuleiro.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28800"/>
            <a:ext cx="4937760" cy="12344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94560"/>
                </a:solidFill>
              </a:rPr>
              <a:t>Reed switches  (--input reed)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O jogador move a peça no tabuleiro instrumentado.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3291840"/>
            <a:ext cx="4937760" cy="242316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Teclado matricial  (--input keypad)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O jogador digita o lance: AA 2 AA 4 #  →  e2:0,e4:1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Tecla repetida vale pela letra do bloco seguinte (A→a, AA→e).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Linhas @entry avisam a GUI do que está sendo digitado, para destacar origem e destinos legais.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FB3C8"/>
                </a:solidFill>
              </a:rPr>
              <a:t>A camada Python não sabe qual das duas está do outro lado — trocar é trocar uma opção de linha de comando.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Fluxo de uma jogada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Do sensor ao bestmove da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q_stockf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090" y="1572768"/>
            <a:ext cx="5325515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FB3C8"/>
                </a:solidFill>
              </a:rPr>
              <a:t>Modo Lichess: o mesmo caminho, trocando a engine local pelo POST na Board API e pelo stream de eventos da partida.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Plano B: a camada de teclado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Decisão de risco tomada na semana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94560"/>
                </a:solidFill>
              </a:rPr>
              <a:t>O risco identificado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A chapa de acrílico comprada ficou espessa demais para o alcance dos ímãs, e a remontagem do tabuleiro consome tempo.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Avaliação do grupo: as 64 casas não fecham dentro do cronograma.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4CC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CC38A"/>
                </a:solidFill>
              </a:rPr>
              <a:t>A contingência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Um teclado matricial 4×4 de baixo custo em que o lance é digitado.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Emite exatamente os mesmos eventos IPC — Stockfish, Lichess, GUI, roque e capturas continuam funcionando sem alteração.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F2F4F8"/>
                </a:solidFill>
              </a:rPr>
              <a:t>Impacto declarado sobre os requisitos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2B714"/>
                </a:solidFill>
              </a:rPr>
              <a:t>•  </a:t>
            </a:r>
            <a:r>
              <a:rPr sz="1600" b="0">
                <a:solidFill>
                  <a:srgbClr val="D6DEE8"/>
                </a:solidFill>
              </a:rPr>
              <a:t>RF1 deixa de ser satisfeito pelo teclado — o lance é informado, não detectado — e RNF3 perde o objeto, já que não há sensor a perturbar.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2B714"/>
                </a:solidFill>
              </a:rPr>
              <a:t>•  </a:t>
            </a:r>
            <a:r>
              <a:rPr sz="1600" b="0">
                <a:solidFill>
                  <a:srgbClr val="D6DEE8"/>
                </a:solidFill>
              </a:rPr>
              <a:t>RF2, RF3 e RNF2 continuam valendo integralmente: são exatamente eles que o teclado preserva.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E2B714"/>
                </a:solidFill>
              </a:rPr>
              <a:t>•  </a:t>
            </a:r>
            <a:r>
              <a:rPr sz="1600" b="0">
                <a:solidFill>
                  <a:srgbClr val="D6DEE8"/>
                </a:solidFill>
              </a:rPr>
              <a:t>A camada de reed switches continua implementada e é o caminho principal. O teclado é contingência, não troca de escopo.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Interface com o usuário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Resposta direta à revisão por pares da semana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Menu de configuração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Modo de jogo, oponente, cor, camada de entrada, tempo da engine e controle de tempo escolhidos na própria interface.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Janela pygame ou lista numerada no terminal (acesso por SSH).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8308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Sinalização de erros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Pré-condições verificadas antes de começar: token ausente, controle de tempo recusado pela Board API, processo em C não compilado, Stockfish fora do PATH.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Cada uma vira mensagem no rodapé — não um erro no meio da partida.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78308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Ações durante a partida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Esc abre: reiniciar, abortar, oferecer ou aceitar empate, desistir, voltar ao menu, sair.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Ação irreversível pede confirmação — num tabuleiro operado por toque, um encostão não pode custar a partida.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F2F4F8"/>
                </a:solidFill>
              </a:rPr>
              <a:t>Assistência no tabuleiro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D6DEE8"/>
                </a:solidFill>
              </a:rPr>
              <a:t>Com a peça na mão, a GUI destaca os destinos legais (ponto para casa livre, anel vermelho para captura). A barra de status diz sempre o que fazer no tabuleiro físico: “Remova a peça de d5”, “Desfaça o movimento ilegal — mova a peça de e5 para e2”, “Roque — agora mova a torre de h1 para f1”.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E2B714"/>
                </a:solidFill>
              </a:rPr>
              <a:t>DEMONSTRAÇÃO</a:t>
            </a:r>
          </a:p>
          <a:p>
            <a:pPr algn="l">
              <a:spcAft>
                <a:spcPts val="2400"/>
              </a:spcAft>
            </a:pPr>
            <a:r>
              <a:rPr sz="4000" b="1">
                <a:solidFill>
                  <a:srgbClr val="F2F4F8"/>
                </a:solidFill>
              </a:rPr>
              <a:t>O funcionamento será mostrado ao vivo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D6DEE8"/>
                </a:solidFill>
              </a:rPr>
              <a:t>Partida contra o Stockfish pelo teclado matricial  ·  partida online via Lichess  ·  mock gráfico dos reed switches  ·  fileiras montadas do tabuleiro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Testes realizados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Quatro suítes automatizadas, sem depender de token, rede, Stockfish ou display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4CC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CC38A"/>
                </a:solidFill>
              </a:rPr>
              <a:t>Suítes  (make test)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test_keypad_layer.py — 30 verificações que executam o binário em C de verdade, digitam teclas em stdin e conferem os eventos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test_lichess.py e test_challenge.py — modo online contra um servidor falso da Board API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test_stockfish_loop.py — regressão do loop principal com engine falsa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Resultado: todas as 4 suítes passaram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8308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O que as evidências mostram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O roque funciona pelo teclado: cinco lances produzem os mesmos eventos que o tabuleiro físico produziria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A troca de camada é transparente: AA2AA4# gera e2:0,e4:1, idêntico ao que a matriz de reed switches emitiria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As linhas @entry não contaminam o canal de eventos — a extensão do protocolo é retrocompatível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Recusas locais corretas: origem vazia, destino ocupado, origem igual ao destino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72000"/>
            <a:ext cx="10820095" cy="155448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Validação de hardware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Teclado matricial testado com hardware real (linhas BCM 16/20/21/26, colunas 19/13/6/5), conferido com o modo de bancada --raw, que mostra em que interseção da matriz cada tecla foi lida.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Tabuleiro instrumentado: cerca de duas fileiras completas montadas com reed switches e diodos — suficiente para confirmar em escala real o mapeamento de linhas e colunas e a detecção através da chapa.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Resultados por requisito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Rastreabilidade requisito × evidência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2A4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2B714"/>
                </a:solidFill>
              </a:rPr>
              <a:t>RF1   </a:t>
            </a:r>
            <a:r>
              <a:rPr sz="1400" b="0">
                <a:solidFill>
                  <a:srgbClr val="F2F4F8"/>
                </a:solidFill>
              </a:rPr>
              <a:t>Detecção das peças e movimentos      </a:t>
            </a:r>
            <a:r>
              <a:rPr sz="1300" b="0">
                <a:solidFill>
                  <a:srgbClr val="D6DEE8"/>
                </a:solidFill>
              </a:rPr>
              <a:t>Software validado (mock + loop principal); hardware parcial — 2 fileiras montadas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41448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2A4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4CC38A"/>
                </a:solidFill>
              </a:rPr>
              <a:t>RF2   </a:t>
            </a:r>
            <a:r>
              <a:rPr sz="1400" b="0">
                <a:solidFill>
                  <a:srgbClr val="F2F4F8"/>
                </a:solidFill>
              </a:rPr>
              <a:t>Comunicação com a chess engine      </a:t>
            </a:r>
            <a:r>
              <a:rPr sz="1300" b="0">
                <a:solidFill>
                  <a:srgbClr val="D6DEE8"/>
                </a:solidFill>
              </a:rPr>
              <a:t>Atendido — Stockfish via UCI e Lichess Board API, cobertos por testes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99816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2A4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4CC38A"/>
                </a:solidFill>
              </a:rPr>
              <a:t>RF3   </a:t>
            </a:r>
            <a:r>
              <a:rPr sz="1400" b="0">
                <a:solidFill>
                  <a:srgbClr val="F2F4F8"/>
                </a:solidFill>
              </a:rPr>
              <a:t>Exibição gráfica das duas partes      </a:t>
            </a:r>
            <a:r>
              <a:rPr sz="1300" b="0">
                <a:solidFill>
                  <a:srgbClr val="D6DEE8"/>
                </a:solidFill>
              </a:rPr>
              <a:t>Atendido — GUI pygame com 32 peças, destaques e barra de instruções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58184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2A4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2B714"/>
                </a:solidFill>
              </a:rPr>
              <a:t>RNF1   </a:t>
            </a:r>
            <a:r>
              <a:rPr sz="1400" b="0">
                <a:solidFill>
                  <a:srgbClr val="F2F4F8"/>
                </a:solidFill>
              </a:rPr>
              <a:t>Detecção &lt; 200 ms e 100 % de precisão      </a:t>
            </a:r>
            <a:r>
              <a:rPr sz="1300" b="0">
                <a:solidFill>
                  <a:srgbClr val="D6DEE8"/>
                </a:solidFill>
              </a:rPr>
              <a:t>Precisão 30/30 nos eventos verificados; medição de latência pendente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16552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2A4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2B714"/>
                </a:solidFill>
              </a:rPr>
              <a:t>RNF2   </a:t>
            </a:r>
            <a:r>
              <a:rPr sz="1400" b="0">
                <a:solidFill>
                  <a:srgbClr val="F2F4F8"/>
                </a:solidFill>
              </a:rPr>
              <a:t>GUI sem latência considerável      </a:t>
            </a:r>
            <a:r>
              <a:rPr sz="1300" b="0">
                <a:solidFill>
                  <a:srgbClr val="D6DEE8"/>
                </a:solidFill>
              </a:rPr>
              <a:t>Renderização incremental implementada; instrumentação de tempos pendente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074920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2A4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2B714"/>
                </a:solidFill>
              </a:rPr>
              <a:t>RNF3   </a:t>
            </a:r>
            <a:r>
              <a:rPr sz="1400" b="0">
                <a:solidFill>
                  <a:srgbClr val="F2F4F8"/>
                </a:solidFill>
              </a:rPr>
              <a:t>Robustez contra falsos positivos      </a:t>
            </a:r>
            <a:r>
              <a:rPr sz="1300" b="0">
                <a:solidFill>
                  <a:srgbClr val="D6DEE8"/>
                </a:solidFill>
              </a:rPr>
              <a:t>Dupla barreira (debouncing em C + validação em Python) e ressincronização; debouncing em hardware pendente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FB3C8"/>
                </a:solidFill>
              </a:rPr>
              <a:t>As pendências são de medição, não de implementação: exigem instrumentar o caminho completo no Raspberry 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Dificuldades encontradas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O que custou tempo e o que aprendemos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92224"/>
            <a:ext cx="44450" cy="658368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37360"/>
            <a:ext cx="105640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2F4F8"/>
                </a:solidFill>
              </a:rPr>
              <a:t>Mecânica antes da eletrônica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6DEE8"/>
                </a:solidFill>
              </a:rPr>
              <a:t>A chapa de acrílico escolhida ficou espessa demais para o alcance dos ímãs de neodímio. Um detalhe mecânico — não de software nem de circuito — foi o que travou o cronograma do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52344"/>
            <a:ext cx="44450" cy="658368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697480"/>
            <a:ext cx="105640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2F4F8"/>
                </a:solidFill>
              </a:rPr>
              <a:t>Montagem de 64 casas é trabalho manual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6DEE8"/>
                </a:solidFill>
              </a:rPr>
              <a:t>Cada casa exige reed switch, diodo e solda. O esforço cresce linearmente e não paraleliza bem entre os integrantes.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712464"/>
            <a:ext cx="44450" cy="658368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657600"/>
            <a:ext cx="105640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2F4F8"/>
                </a:solidFill>
              </a:rPr>
              <a:t>Tabuleiro físico e tabuleiro virtual divergem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6DEE8"/>
                </a:solidFill>
              </a:rPr>
              <a:t>Reed switches dizem onde há ímã, não qual peça é. Capturas do oponente e lances ilegais dessincronizam os dois — resolvido com histórico de peças deslocadas, instruções explícitas na barra de status e comandos de ressincronização.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672584"/>
            <a:ext cx="44450" cy="658368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617720"/>
            <a:ext cx="105640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2F4F8"/>
                </a:solidFill>
              </a:rPr>
              <a:t>Restrições da Board API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6DEE8"/>
                </a:solidFill>
              </a:rPr>
              <a:t>O Lichess recusa controles de tempo abaixo de 480 s estimados. Descoberto empiricamente e transformado em verificação prévia, com explicação, em vez de um HTTP 400 sem contexto.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632704"/>
            <a:ext cx="44450" cy="658368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577840"/>
            <a:ext cx="105640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2F4F8"/>
                </a:solidFill>
              </a:rPr>
              <a:t>Testar hardware que ainda não existe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6DEE8"/>
                </a:solidFill>
              </a:rPr>
              <a:t>Resolvido com mock gráfico dos sensores, stubs de GPIO que permitem compilar o binário fora do Raspberry Pi e um servidor falso da Board API.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2F4F8"/>
                </a:solidFill>
              </a:rPr>
              <a:t>Trabalhos futuros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O que fica encaminhado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371600" cy="381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94560"/>
                </a:solidFill>
              </a:rPr>
              <a:t>Hardware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Concluir as 64 casas do tabuleiro com chapa de espessura adequada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Medir a taxa de acerto da detecção e exercitar o debouncing com esbarrões reais (RNF3)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Integrar o display 16×2 por I²C ao caminho principal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E2B7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B714"/>
                </a:solidFill>
              </a:rPr>
              <a:t>Medição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Instrumentar o caminho completo — sensor ou tecla até o quadro renderizado — no próprio Raspberry Pi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Fechar as evidências de RNF1 (&lt; 200 ms) e RNF2 (&lt; 100 ms)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Teste de aceitação: partidas completas até o xeque-mate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172740"/>
          </a:solidFill>
          <a:ln w="15875">
            <a:solidFill>
              <a:srgbClr val="4CC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CC38A"/>
                </a:solidFill>
              </a:rPr>
              <a:t>Software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Envio de lances ao Lichess fora do loop principal (hoje é POST síncrono)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Reconexão automática do stream e reconstrução do estado após takeback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Diálogo de promoção (hoje promove sempre para dama)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6DEE8"/>
                </a:solidFill>
              </a:rPr>
              <a:t>Relógios da partida e suporte a variantes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108200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F2F4F8"/>
                </a:solidFill>
              </a:rPr>
              <a:t>Considerações finais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D6DEE8"/>
                </a:solidFill>
              </a:rPr>
              <a:t>O sistema está jogável de ponta a ponta — contra o Stockfish e contra oponentes online — com toda a lógica de xadrez, a interface e a integração validadas por testes automatizados. O que separa o projeto do escopo original é a montagem física do tabuleiro, e a decisão de manter as camadas de entrada intercambiáveis foi o que permitiu que esse atraso não bloqueasse o resto.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B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4800" b="1">
                <a:solidFill>
                  <a:srgbClr val="F2F4F8"/>
                </a:solidFill>
              </a:rPr>
              <a:t>Obrigado</a:t>
            </a:r>
          </a:p>
          <a:p>
            <a:pPr algn="l">
              <a:spcAft>
                <a:spcPts val="2400"/>
              </a:spcAft>
            </a:pPr>
            <a:r>
              <a:rPr sz="2400" b="0">
                <a:solidFill>
                  <a:srgbClr val="E2B714"/>
                </a:solidFill>
              </a:rPr>
              <a:t>Perguntas?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FB3C8"/>
                </a:solidFill>
              </a:rPr>
              <a:t>Grupo W  ·  PCS3732 — Laboratório de Processadores  ·  Escola Politécnica da USP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